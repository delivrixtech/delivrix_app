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63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563E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  <c:pt idx="3">
                  <c:v>AGOSTO</c:v>
                </c:pt>
                <c:pt idx="4">
                  <c:v>SEPTIEMBRE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150</c:v>
                </c:pt>
                <c:pt idx="2">
                  <c:v>500</c:v>
                </c:pt>
                <c:pt idx="3">
                  <c:v>750</c:v>
                </c:pt>
                <c:pt idx="4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8-7D44-9F16-B33D2E1A66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Webdock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  <c:pt idx="3">
                  <c:v>AGOSTO</c:v>
                </c:pt>
                <c:pt idx="4">
                  <c:v>SEPTIEMBRE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70</c:v>
                </c:pt>
                <c:pt idx="2">
                  <c:v>50</c:v>
                </c:pt>
                <c:pt idx="3">
                  <c:v>20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7-6740-BD26-02D50EAC00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VPS USA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  <c:pt idx="3">
                  <c:v>AGOSTO</c:v>
                </c:pt>
                <c:pt idx="4">
                  <c:v>SEPTIEMBRE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50</c:v>
                </c:pt>
                <c:pt idx="3">
                  <c:v>80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67-6740-BD26-02D50EAC00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USD/mes</c:v>
                </c:pt>
              </c:strCache>
            </c:strRef>
          </c:tx>
          <c:spPr>
            <a:solidFill>
              <a:srgbClr val="06B6D4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C6A-6347-A7C9-9D966A82D227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6A-6347-A7C9-9D966A82D227}"/>
              </c:ext>
            </c:extLst>
          </c:dPt>
          <c:dPt>
            <c:idx val="2"/>
            <c:invertIfNegative val="0"/>
            <c:bubble3D val="0"/>
            <c:spPr>
              <a:solidFill>
                <a:srgbClr val="0F17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C6A-6347-A7C9-9D966A82D227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OPTIMISTA</c:v>
                </c:pt>
                <c:pt idx="1">
                  <c:v>REALISTA</c:v>
                </c:pt>
                <c:pt idx="2">
                  <c:v>CONSERVADOR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471</c:v>
                </c:pt>
                <c:pt idx="1">
                  <c:v>806</c:v>
                </c:pt>
                <c:pt idx="2">
                  <c:v>1142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C6A-6347-A7C9-9D966A82D2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0"/>
          <c:min val="0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2563E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PLATAFORMA PROPIA</c:v>
                </c:pt>
                <c:pt idx="1">
                  <c:v>SENDGRID GESTIONADO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15247</c:v>
                </c:pt>
                <c:pt idx="1">
                  <c:v>66000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E-4C40-B938-BFC021B764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00"/>
          <c:min val="0"/>
        </c:scaling>
        <c:delete val="0"/>
        <c:axPos val="b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2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" cy="6858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36576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71323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PLAN  ·  V3.4  ·  27 ABRIL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propia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-1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mailing a escala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Servidor físico propio  ·  300 VPS virtualizados  ·  1 millón de correos diarios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846320"/>
            <a:ext cx="548640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263640" y="4846320"/>
            <a:ext cx="5486400" cy="228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77240" y="5074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RESPONSABLE TÉCNICO
</a:t>
            </a:r>
            <a:endParaRPr lang="en-US" sz="9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Juan Esteban Cañar T.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5029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0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CORREOS / DÍA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366760" y="5029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66760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 AL OBJETIVO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49840" y="5029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1.820%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149840" y="5577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 24 MESES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PRESENTACIÓN EJECUTIVA AL SPONSOR  ·  POPAYÁN, COLOMBIA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 ·  RECORRIDO DE LA PRESENTACIÓN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voy a defender hoy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2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Veintidós láminas estructuradas en cinco bloques: contexto y problema, solución técnica, plan de ejecución, gestión de riesgos y análisis financiero. El orden refleja la secuencia lógica de aprobación.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203704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20370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y problema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59352"/>
            <a:ext cx="36576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1837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Resumen ejecutivo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Problema central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problemas concretos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Análisis de alternativas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52344" y="2331720"/>
            <a:ext cx="2203704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52344" y="2331720"/>
            <a:ext cx="220370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935224" y="25603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2935224" y="33832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técnica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35224" y="3959352"/>
            <a:ext cx="36576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935224" y="4114800"/>
            <a:ext cx="1837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tesis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Seis principios de diseño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Arquitectura tres bloques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Estrategia IPs USA híbrida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autónomo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7488" y="2331720"/>
            <a:ext cx="2203704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047488" y="2331720"/>
            <a:ext cx="220370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230368" y="25603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230368" y="33832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ejecución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30368" y="3959352"/>
            <a:ext cx="36576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230368" y="4114800"/>
            <a:ext cx="1837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Roadmap MVP 30 días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Ruta cinco meses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Servidor IBM x3630 M4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Transición Webdock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C contingente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42632" y="2331720"/>
            <a:ext cx="2203704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342632" y="2331720"/>
            <a:ext cx="220370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525512" y="25603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7525512" y="33832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riesgos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25512" y="3959352"/>
            <a:ext cx="36576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525512" y="4114800"/>
            <a:ext cx="1837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Matriz de riesgos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Siete barandillas OpenClaw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Mitigación por capas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37776" y="2331720"/>
            <a:ext cx="2203704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9637776" y="2331720"/>
            <a:ext cx="220370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820656" y="2560320"/>
            <a:ext cx="1837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9820656" y="338328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plan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820656" y="3959352"/>
            <a:ext cx="36576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9820656" y="4114800"/>
            <a:ext cx="1837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Tres escenarios de costo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vs SendGrid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Seis decisiones de aprobación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Próximos pasos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RESUMEN EJECUTIVO  ·  LO QUE DESBLOQUEA LA APROBACIÓN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cifras que definen el proyecto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3 / 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274552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6576" cy="8686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Construyo en cinco meses una plataforma propia para Delivrix LLC que enviará un millón de correos diarios sostenidos desde infraestructura totalmente bajo control de la empresa.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974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371600" y="3127248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333756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1.000.000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correos diarios sostenidos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septiembre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73552" y="2834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3273552" y="2834640"/>
            <a:ext cx="26974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4187952" y="3127248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333756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56432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meses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3456432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 inicio del proyecto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volumen objetivo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89904" y="2834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6089904" y="2834640"/>
            <a:ext cx="26974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2"/>
          <p:cNvSpPr/>
          <p:nvPr/>
        </p:nvSpPr>
        <p:spPr>
          <a:xfrm>
            <a:off x="7004304" y="3127248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044" y="33375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72784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806/mes</a:t>
            </a:r>
            <a:endParaRPr lang="en-US" sz="2600" dirty="0"/>
          </a:p>
        </p:txBody>
      </p:sp>
      <p:sp>
        <p:nvSpPr>
          <p:cNvPr id="29" name="Text 24"/>
          <p:cNvSpPr/>
          <p:nvPr/>
        </p:nvSpPr>
        <p:spPr>
          <a:xfrm>
            <a:off x="6272784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realista del proyecto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(rango USD 471 — 1.142)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906256" y="28346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6"/>
          <p:cNvSpPr/>
          <p:nvPr/>
        </p:nvSpPr>
        <p:spPr>
          <a:xfrm>
            <a:off x="8906256" y="2834640"/>
            <a:ext cx="26974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7"/>
          <p:cNvSpPr/>
          <p:nvPr/>
        </p:nvSpPr>
        <p:spPr>
          <a:xfrm>
            <a:off x="9820656" y="3127248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6396" y="333756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089136" y="4114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50.753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9089136" y="4754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ahorro neto año 1 vs SendGrid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(ROI 1.820% a 24 meses)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57200" y="5760720"/>
            <a:ext cx="11274552" cy="594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1"/>
          <p:cNvSpPr/>
          <p:nvPr/>
        </p:nvSpPr>
        <p:spPr>
          <a:xfrm>
            <a:off x="777240" y="576072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BEAFE"/>
                </a:solidFill>
              </a:rPr>
              <a:t>MOTIVACIÓN  ·  </a:t>
            </a:r>
            <a:r>
              <a:rPr lang="en-US" sz="11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Eliminar la dependencia de SendGrid, Mailgun, AWS SES o cualquier proveedor que pueda suspender la operación, subir tarifas o cambiar las reglas del juego.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1  ·  DESCOMPOSICIÓN DEL 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problemas concretos a resolver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4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problema central es estratégico, no técnico. Cualquier solución que mantenga dependencia de terceros perpetúa el mismo riesgo demostrado en eventos previos de Webdock.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56052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6576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965192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i="1" dirty="0">
                <a:solidFill>
                  <a:srgbClr val="2563EB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604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63040" y="25603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77240" y="326440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Operación actual con tres VPS Webdock limitada en volumen. No puede crecer sin agregar más servidores y replicar configuraciones manualmente.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2331720"/>
            <a:ext cx="56052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6126480" y="2331720"/>
            <a:ext cx="36576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10634472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i="1" dirty="0">
                <a:solidFill>
                  <a:srgbClr val="2563EB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60604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25603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Resiliencia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6446520" y="326440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Webdock decide suspender la cuenta, la operación cae completa porque no existe redundancia ni un canal alterno controlado.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7200" y="4389120"/>
            <a:ext cx="56052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457200" y="4389120"/>
            <a:ext cx="36576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4965192" y="4526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i="1" dirty="0">
                <a:solidFill>
                  <a:srgbClr val="2563EB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66344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63040" y="46177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reputación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777240" y="532180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direcciones IP son del proveedor, no propias. La reputación construida puede perderse si se cambia de proveedor.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126480" y="4389120"/>
            <a:ext cx="560527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4"/>
          <p:cNvSpPr/>
          <p:nvPr/>
        </p:nvSpPr>
        <p:spPr>
          <a:xfrm>
            <a:off x="6126480" y="4389120"/>
            <a:ext cx="36576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5"/>
          <p:cNvSpPr/>
          <p:nvPr/>
        </p:nvSpPr>
        <p:spPr>
          <a:xfrm>
            <a:off x="10634472" y="4526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0" b="1" i="1" dirty="0">
                <a:solidFill>
                  <a:srgbClr val="2563EB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66344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0" y="46177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Costos a escala</a:t>
            </a:r>
            <a:endParaRPr lang="en-US" sz="1900" dirty="0"/>
          </a:p>
        </p:txBody>
      </p:sp>
      <p:sp>
        <p:nvSpPr>
          <p:cNvPr id="33" name="Text 27"/>
          <p:cNvSpPr/>
          <p:nvPr/>
        </p:nvSpPr>
        <p:spPr>
          <a:xfrm>
            <a:off x="6446520" y="5321808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Contratar SendGrid o Mailgun a 30 millones de correos/mes cuesta entre USD 4.000 y 7.000 mensuales — insostenible.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57200" y="6355080"/>
            <a:ext cx="11274552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2  ·  ANÁLISIS COMPARATIVO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Cuatro alternativas evaluadas — y por qué elegimos 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5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caminos posibles evaluados en cinco dimensiones críticas. Solo la opción D satisface todas las restricciones simultáneamente.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862072" cy="594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2240280"/>
            <a:ext cx="2103120" cy="594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19272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· GESTIONADO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22392" y="2240280"/>
            <a:ext cx="2103120" cy="594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22392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 · SOLO WEBDOCK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25512" y="2240280"/>
            <a:ext cx="2103120" cy="594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525512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 · MULTI-PROVEEDOR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28632" y="2240280"/>
            <a:ext cx="210312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628632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 · INFRA PROPIA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28632" y="2834640"/>
            <a:ext cx="210312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28620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" y="2871216"/>
            <a:ext cx="2862072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mensual a 1M/día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9272" y="28712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319272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4-7 mil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22392" y="28712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422392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1.5-3 mil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25512" y="28712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525512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1.5-2.5 mil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28632" y="2871216"/>
            <a:ext cx="2103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9628632" y="2871216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0.8 mil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28620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2862072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Tiempo a operación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9272" y="3337560"/>
            <a:ext cx="2103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319272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1-2 días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22392" y="3337560"/>
            <a:ext cx="2103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422392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Inmediato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525512" y="3337560"/>
            <a:ext cx="2103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7525512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2-4 semanas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28632" y="3337560"/>
            <a:ext cx="2103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9628632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meses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840480"/>
            <a:ext cx="28620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457200" y="3840480"/>
            <a:ext cx="2862072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Riesgo de suspensión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19272" y="38404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3319272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22392" y="38404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5422392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25512" y="38404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7525512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28632" y="3840480"/>
            <a:ext cx="2103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9628632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Bajo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343400"/>
            <a:ext cx="28620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457200" y="4343400"/>
            <a:ext cx="2862072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de reputación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319272" y="4343400"/>
            <a:ext cx="2103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3319272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Ninguno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22392" y="4343400"/>
            <a:ext cx="2103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5422392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Limitado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525512" y="4343400"/>
            <a:ext cx="210312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7525512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Parcial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628632" y="4343400"/>
            <a:ext cx="2103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9628632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4846320"/>
            <a:ext cx="2862072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457200" y="4846320"/>
            <a:ext cx="2862072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Escalabilidad futura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319272" y="48463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3319272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Limitada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22392" y="48463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5422392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Limitada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525512" y="484632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7525512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Buena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628632" y="4846320"/>
            <a:ext cx="21031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9628632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" y="5660136"/>
            <a:ext cx="11274552" cy="868680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2" name="Text 70"/>
          <p:cNvSpPr/>
          <p:nvPr/>
        </p:nvSpPr>
        <p:spPr>
          <a:xfrm>
            <a:off x="777240" y="5733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7E8F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ALTERNATIVA D ADOPTADA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77240" y="60076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la infraestructura propia satisface las cinco dimensiones simultáneamente — autonomía, costo, control, escalabilidad y resiliencia. La debilidad de los 5 meses se mitiga con plan de transición Webdock + Plan C contingente.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3  ·  LA TESIS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plataforma propia, end-to-end, en cinco meses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6 / 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1206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6576" cy="4526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13232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QUE VOY A ENTREGAR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2860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sobre el servidor IBM x3630 M4 ya adquirido por Delivrix LLC, configurado en Popayán Colombia.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2004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servidor aloja la plataforma de orquestación y los 300 VPS virtualizados que envían los correos.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OpenClaw, agente de IA construido durante el MVP, opera la flota con autonomía real usando Claude Sonnet 4.6.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direcciones IP de envío son IPs USA mediante leasing especializado, alineadas con la jurisdicción de Delivrix LLC.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 provee servicios técnicos de soporte (Route 53, Secrets Manager, S3) — no envía correos.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continúa operando como respaldo durante la transición progresiva mes a 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783080"/>
            <a:ext cx="5852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852160" y="1783080"/>
            <a:ext cx="585216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84248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12280" y="19110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12280" y="22585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Agente de IA autónomo  ·  Claude Sonnet 4.6  ·  Hostinger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52160" y="2788920"/>
            <a:ext cx="5852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5852160" y="2788920"/>
            <a:ext cx="5852160" cy="3657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990088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1228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 IBM x3630 M4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812280" y="32644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Popayán  ·  300 VPS virtualizados con IPs USA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852160" y="3794760"/>
            <a:ext cx="5852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>
            <a:off x="5852160" y="3794760"/>
            <a:ext cx="585216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995928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12280" y="39227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IPs USA híbridas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812280" y="42702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256 leasing inmediato  +  /23 ARIN propio (paralelo)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852160" y="4800600"/>
            <a:ext cx="5852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5"/>
          <p:cNvSpPr/>
          <p:nvPr/>
        </p:nvSpPr>
        <p:spPr>
          <a:xfrm>
            <a:off x="5852160" y="4800600"/>
            <a:ext cx="5852160" cy="3657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001768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12280" y="49286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Servicios AWS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812280" y="52760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 53  ·  Secrets Manager  ·  S3 backups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852160" y="5760720"/>
            <a:ext cx="585216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Text 29"/>
          <p:cNvSpPr/>
          <p:nvPr/>
        </p:nvSpPr>
        <p:spPr>
          <a:xfrm>
            <a:off x="6080760" y="576072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BEAFE"/>
                </a:solidFill>
              </a:rPr>
              <a:t>META  ·  </a:t>
            </a: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millón de correos diarios sostenidos en septiembre 2026.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 TÉCNICO Y ESTRATÉGICO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principios de diseño que guían todo el proyecto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7 / 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72160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721608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8745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Autonomía total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929384" y="2587752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2770632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347472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operación no depende de ninguna decisión externa. IPs, servidores y orquestación bajo control directo.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33672" y="1874520"/>
            <a:ext cx="372160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4233672" y="1874520"/>
            <a:ext cx="3721608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4507992" y="1874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102352" y="18745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Separación de responsabilidades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705856" y="2587752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2770632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62272" y="347472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responsabilidades separadas: orquestación (OpenClaw), control y datos (servidor), envío (300 VPS), soporte (AWS).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10144" y="1874520"/>
            <a:ext cx="372160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0"/>
          <p:cNvSpPr/>
          <p:nvPr/>
        </p:nvSpPr>
        <p:spPr>
          <a:xfrm>
            <a:off x="8010144" y="1874520"/>
            <a:ext cx="3721608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1"/>
          <p:cNvSpPr/>
          <p:nvPr/>
        </p:nvSpPr>
        <p:spPr>
          <a:xfrm>
            <a:off x="8284464" y="1874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878824" y="1874520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Continuidad operativa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9482328" y="2587752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5208" y="2770632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38744" y="347472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sigue enviando durante la transición. La operación actual no se detiene. Migración progresiva validada.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7200" y="4233672"/>
            <a:ext cx="372160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6"/>
          <p:cNvSpPr/>
          <p:nvPr/>
        </p:nvSpPr>
        <p:spPr>
          <a:xfrm>
            <a:off x="457200" y="4233672"/>
            <a:ext cx="3721608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7"/>
          <p:cNvSpPr/>
          <p:nvPr/>
        </p:nvSpPr>
        <p:spPr>
          <a:xfrm>
            <a:off x="731520" y="4233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1325880" y="423367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Crecimiento por evidencia</a:t>
            </a:r>
            <a:endParaRPr lang="en-US" sz="1350" dirty="0"/>
          </a:p>
        </p:txBody>
      </p:sp>
      <p:sp>
        <p:nvSpPr>
          <p:cNvPr id="34" name="Shape 29"/>
          <p:cNvSpPr/>
          <p:nvPr/>
        </p:nvSpPr>
        <p:spPr>
          <a:xfrm>
            <a:off x="1929384" y="4946904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2264" y="5129784"/>
            <a:ext cx="411480" cy="4114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5800" y="583387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 llega a 300 VPS desde el día 1. Cada lote pasa por warming. Promociones automáticas con métricas reales.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4233672" y="4233672"/>
            <a:ext cx="372160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2"/>
          <p:cNvSpPr/>
          <p:nvPr/>
        </p:nvSpPr>
        <p:spPr>
          <a:xfrm>
            <a:off x="4233672" y="4233672"/>
            <a:ext cx="3721608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4507992" y="4233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40" name="Text 34"/>
          <p:cNvSpPr/>
          <p:nvPr/>
        </p:nvSpPr>
        <p:spPr>
          <a:xfrm>
            <a:off x="5102352" y="423367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Reversibilidad de decisiones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5705856" y="4946904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736" y="5129784"/>
            <a:ext cx="411480" cy="4114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462272" y="583387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 decisión técnica importante es reversible. Si IP leasing falla, se cambia. Si ARIN rechaza, leasing se mantiene.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8010144" y="4233672"/>
            <a:ext cx="372160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5" name="Shape 38"/>
          <p:cNvSpPr/>
          <p:nvPr/>
        </p:nvSpPr>
        <p:spPr>
          <a:xfrm>
            <a:off x="8010144" y="4233672"/>
            <a:ext cx="3721608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39"/>
          <p:cNvSpPr/>
          <p:nvPr/>
        </p:nvSpPr>
        <p:spPr>
          <a:xfrm>
            <a:off x="8284464" y="42336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47" name="Text 40"/>
          <p:cNvSpPr/>
          <p:nvPr/>
        </p:nvSpPr>
        <p:spPr>
          <a:xfrm>
            <a:off x="8878824" y="4233672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Alineación regulatoria USA</a:t>
            </a:r>
            <a:endParaRPr lang="en-US" sz="1350" dirty="0"/>
          </a:p>
        </p:txBody>
      </p:sp>
      <p:sp>
        <p:nvSpPr>
          <p:cNvPr id="48" name="Shape 41"/>
          <p:cNvSpPr/>
          <p:nvPr/>
        </p:nvSpPr>
        <p:spPr>
          <a:xfrm>
            <a:off x="9482328" y="4946904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208" y="5129784"/>
            <a:ext cx="411480" cy="41148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238744" y="583387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Decisiones técnicas alineadas con CAN-SPAM Act: IPs USA, registros DNS y prácticas operativas que cumplen ley.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4  ·  ARQUITECTURA TÉCNICA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la plataforma — flujo end-to-end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8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orquesta · el servidor IBM ejecuta · AWS soporta · Webdock respalda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36576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0876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AGENTE IA  ·  HOSTINGER VPS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Sonnet 4.6  ·  análisis cada 15 min  ·  toma acciones autónomas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863840" y="210312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7863840" y="2103120"/>
            <a:ext cx="36576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28600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325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73252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SERVICIOS DE SOPORTE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04672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 53  ·  Secrets Manager  ·  S3 backups  —  no envía correos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0584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 + token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22960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DNS · claves · backup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423160" y="356616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1"/>
          <p:cNvSpPr/>
          <p:nvPr/>
        </p:nvSpPr>
        <p:spPr>
          <a:xfrm rot="8100000">
            <a:off x="2331720" y="4005072"/>
            <a:ext cx="219456" cy="1828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2"/>
          <p:cNvSpPr/>
          <p:nvPr/>
        </p:nvSpPr>
        <p:spPr>
          <a:xfrm>
            <a:off x="9646920" y="3566160"/>
            <a:ext cx="36576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3"/>
          <p:cNvSpPr/>
          <p:nvPr/>
        </p:nvSpPr>
        <p:spPr>
          <a:xfrm rot="8100000">
            <a:off x="9555480" y="4005072"/>
            <a:ext cx="219456" cy="182880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4"/>
          <p:cNvSpPr/>
          <p:nvPr/>
        </p:nvSpPr>
        <p:spPr>
          <a:xfrm>
            <a:off x="457200" y="3840480"/>
            <a:ext cx="11274552" cy="1691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5"/>
          <p:cNvSpPr/>
          <p:nvPr/>
        </p:nvSpPr>
        <p:spPr>
          <a:xfrm>
            <a:off x="457200" y="3840480"/>
            <a:ext cx="54864" cy="1691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05072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80160" y="39593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SERVIDOR FÍSICO PROPIO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28016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IBM x3630 M4  ·  Popayán, Colombia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77240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Aloja toda la plataforma de orquestación y la flota de 300 VPS virtualizados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777240" y="4617720"/>
            <a:ext cx="2514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864608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80160" y="4690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28016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recibe pedidos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310128" y="4997196"/>
            <a:ext cx="118872" cy="274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3"/>
          <p:cNvSpPr/>
          <p:nvPr/>
        </p:nvSpPr>
        <p:spPr>
          <a:xfrm rot="5400000">
            <a:off x="3429000" y="4951476"/>
            <a:ext cx="118872" cy="118872"/>
          </a:xfrm>
          <a:prstGeom prst="lin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4"/>
          <p:cNvSpPr/>
          <p:nvPr/>
        </p:nvSpPr>
        <p:spPr>
          <a:xfrm>
            <a:off x="3474720" y="4617720"/>
            <a:ext cx="2514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9312" y="4864608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977640" y="4690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Worker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397764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ejecuta envíos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007608" y="4997196"/>
            <a:ext cx="118872" cy="274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38"/>
          <p:cNvSpPr/>
          <p:nvPr/>
        </p:nvSpPr>
        <p:spPr>
          <a:xfrm rot="5400000">
            <a:off x="6126480" y="4951476"/>
            <a:ext cx="118872" cy="118872"/>
          </a:xfrm>
          <a:prstGeom prst="lin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39"/>
          <p:cNvSpPr/>
          <p:nvPr/>
        </p:nvSpPr>
        <p:spPr>
          <a:xfrm>
            <a:off x="6172200" y="4617720"/>
            <a:ext cx="2514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4864608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675120" y="4690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PostgreSQL+Redis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667512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datos · colas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8705088" y="4997196"/>
            <a:ext cx="118872" cy="2743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Shape 43"/>
          <p:cNvSpPr/>
          <p:nvPr/>
        </p:nvSpPr>
        <p:spPr>
          <a:xfrm rot="5400000">
            <a:off x="8823960" y="4951476"/>
            <a:ext cx="118872" cy="118872"/>
          </a:xfrm>
          <a:prstGeom prst="lin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Shape 44"/>
          <p:cNvSpPr/>
          <p:nvPr/>
        </p:nvSpPr>
        <p:spPr>
          <a:xfrm>
            <a:off x="8869680" y="4617720"/>
            <a:ext cx="2514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4272" y="4864608"/>
            <a:ext cx="274320" cy="27432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9372600" y="4690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Pool 300 VPS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9372600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IPs USA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080760" y="5577840"/>
            <a:ext cx="36576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Shape 48"/>
          <p:cNvSpPr/>
          <p:nvPr/>
        </p:nvSpPr>
        <p:spPr>
          <a:xfrm rot="8100000">
            <a:off x="5989320" y="5806440"/>
            <a:ext cx="219456" cy="182880"/>
          </a:xfrm>
          <a:prstGeom prst="lin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Shape 49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0"/>
          <p:cNvSpPr/>
          <p:nvPr/>
        </p:nvSpPr>
        <p:spPr>
          <a:xfrm>
            <a:off x="777240" y="576072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</a:rPr>
              <a:t>SALIDA  ·  </a:t>
            </a:r>
            <a:r>
              <a:rPr lang="en-US" sz="12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Correos vía SMTP desde 300 IPs USA dedicadas hacia destinatarios en Estados Unidos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3.4  ·  IPS USA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Estrategia híbrida — dos caminos paralelos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9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Cómo obtener las IPs necesarias combinando velocidad de arranque y autonomía permanente. Si ARIN rechaza, leasing se mantiene como solución permanente.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6811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468112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CAMINO INMEDIATO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 leasing /24 USA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256 IPs  ·  Disponible en 1 semana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54864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5010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Bloque /24 contratado a IPv4.Global, IPXO o Heficed. Son IPs rentadas pero el proveedor garantiza bloque limpio antes de entregar. Permite arrancar la operación sin esperar trámites administrativos largos.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83480"/>
            <a:ext cx="5010912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22960" y="5093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40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128 — 384 / 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40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PLAZO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5559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Contrato típico 12 meses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240280"/>
            <a:ext cx="5468112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263640" y="2240280"/>
            <a:ext cx="5468112" cy="3657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492240" y="242316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CAMINO PARALELO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ARIN /23 USA propio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512 IPs permanentes  ·  3 a 6 meses de trámite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566160"/>
            <a:ext cx="548640" cy="228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492240" y="3749040"/>
            <a:ext cx="5010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Asignación permanente a nombre de Delivrix LLC. ARIN es el registro regional de Internet para USA y Canadá. Una vez aprobado, las IPs son propiedad permanente de la empresa, sin pago mensual al broker.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983480"/>
            <a:ext cx="5010912" cy="118872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629400" y="5093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2.000 — 4.000 setup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5577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PLAZO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5559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Permanente · cuota anual ARIN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7  ·  OPENCLAW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de IA operativo autónomo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10 / 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6576" cy="4526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13232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21945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Componente de IA que opera la flota de 300 VPS con autonomía real y barandillas inteligentes.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246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Construido durante el MVP en 30 días sobre el VPS Hostinger ya contratado. Motor principal Claude Sonnet 4.6, motor de respaldo OpenAI GPT-4. Autoriza acciones reales (crear VPS, configurar SMTP, modificar DNS) dentro de límites estrictos.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4663440"/>
            <a:ext cx="1417320" cy="1097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13232" y="4846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min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5303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frecuencia análisis flota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21992" y="4663440"/>
            <a:ext cx="1417320" cy="1097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221992" y="4846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21992" y="5303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límite diario API 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30752" y="4663440"/>
            <a:ext cx="1417320" cy="1097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730752" y="4846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&lt;60 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30752" y="5303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verificación post-acción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0" y="1783080"/>
            <a:ext cx="5971032" cy="45262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760720" y="1783080"/>
            <a:ext cx="54864" cy="4526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98932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FILOSOFÍA OPERATIVA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2194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Autonomía real con barandillas inteligentes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989320" y="29718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hay humano-en-el-loop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0" y="33558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operación de 1M correos/día con 300 VPS no se gestiona aprobando cada una de las 50 recomendaciones diarias.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89320" y="40690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8368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Mayoría de acciones reversibles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583680" y="44531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 VPS, configurar Postfix, rotar DKIM, ajustar DNS — son predecibles y no requieren juicio humano caso a caso.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89320" y="51663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DBEA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8368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humano se reserva para lo crítico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583680" y="55504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Decisiones irreversibles (eliminar VPS), de impacto (modificar SPF global), o que afecten más del 20% de la flota.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7.3  ·  INTERNALS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 — pipeline técnico de cinco capas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11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Aplicación NestJS sobre Hostinger (2 vCPU · 8 GB RAM · 100 GB NVMe) — el flujo va de izquierda a derecha en cada ciclo de 15 min.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1274552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011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Trigger del scheduler  →  decisión inteligente  →  ejecución autorizada  →  verificación con rollback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1031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10312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2679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20140" y="3383280"/>
            <a:ext cx="777240" cy="77724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3566160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4599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NODE-CRON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234440" y="4892040"/>
            <a:ext cx="5486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594360" y="5001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Flota cada 15 min  ·  Capacidad cada 1h  ·  IPs cada 6h  ·  Health check 5 min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596896" y="3749040"/>
            <a:ext cx="70866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 rot="5400000">
            <a:off x="2649474" y="3685032"/>
            <a:ext cx="146304" cy="146304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2750058" y="2606040"/>
            <a:ext cx="21031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2750058" y="2606040"/>
            <a:ext cx="210312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2750058" y="2679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412998" y="3383280"/>
            <a:ext cx="777240" cy="77724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878" y="3566160"/>
            <a:ext cx="411480" cy="41148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841498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Skills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2841498" y="4599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HABILIDADES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527298" y="4892040"/>
            <a:ext cx="5486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9"/>
          <p:cNvSpPr/>
          <p:nvPr/>
        </p:nvSpPr>
        <p:spPr>
          <a:xfrm>
            <a:off x="2887218" y="5001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fleet-ops  ·  vps-ops  ·  ip-ops  ·  domain-ops  ·  alert-ops  ·  report-ops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889754" y="3749040"/>
            <a:ext cx="70866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1"/>
          <p:cNvSpPr/>
          <p:nvPr/>
        </p:nvSpPr>
        <p:spPr>
          <a:xfrm rot="5400000">
            <a:off x="4942332" y="3685032"/>
            <a:ext cx="146304" cy="146304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2"/>
          <p:cNvSpPr/>
          <p:nvPr/>
        </p:nvSpPr>
        <p:spPr>
          <a:xfrm>
            <a:off x="5042916" y="2606040"/>
            <a:ext cx="21031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3"/>
          <p:cNvSpPr/>
          <p:nvPr/>
        </p:nvSpPr>
        <p:spPr>
          <a:xfrm>
            <a:off x="5042916" y="2606040"/>
            <a:ext cx="210312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4"/>
          <p:cNvSpPr/>
          <p:nvPr/>
        </p:nvSpPr>
        <p:spPr>
          <a:xfrm>
            <a:off x="5042916" y="2679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39" name="Shape 35"/>
          <p:cNvSpPr/>
          <p:nvPr/>
        </p:nvSpPr>
        <p:spPr>
          <a:xfrm>
            <a:off x="5705856" y="3383280"/>
            <a:ext cx="777240" cy="77724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3566160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134356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Router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5134356" y="4599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DECISIÓN IA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5820156" y="4892040"/>
            <a:ext cx="5486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9"/>
          <p:cNvSpPr/>
          <p:nvPr/>
        </p:nvSpPr>
        <p:spPr>
          <a:xfrm>
            <a:off x="5180076" y="5001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Sonnet 4.6 principal  ·  GPT-4 respaldo  ·  tareas simples sin LLM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7182612" y="3749040"/>
            <a:ext cx="70866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1"/>
          <p:cNvSpPr/>
          <p:nvPr/>
        </p:nvSpPr>
        <p:spPr>
          <a:xfrm rot="5400000">
            <a:off x="7235190" y="3685032"/>
            <a:ext cx="146304" cy="146304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42"/>
          <p:cNvSpPr/>
          <p:nvPr/>
        </p:nvSpPr>
        <p:spPr>
          <a:xfrm>
            <a:off x="7335774" y="2606040"/>
            <a:ext cx="21031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8" name="Shape 43"/>
          <p:cNvSpPr/>
          <p:nvPr/>
        </p:nvSpPr>
        <p:spPr>
          <a:xfrm>
            <a:off x="7335774" y="2606040"/>
            <a:ext cx="210312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4"/>
          <p:cNvSpPr/>
          <p:nvPr/>
        </p:nvSpPr>
        <p:spPr>
          <a:xfrm>
            <a:off x="7335774" y="2679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50" name="Shape 45"/>
          <p:cNvSpPr/>
          <p:nvPr/>
        </p:nvSpPr>
        <p:spPr>
          <a:xfrm>
            <a:off x="7998714" y="3383280"/>
            <a:ext cx="777240" cy="77724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594" y="3566160"/>
            <a:ext cx="411480" cy="41148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7427214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Executor</a:t>
            </a:r>
            <a:endParaRPr lang="en-US" sz="1400" dirty="0"/>
          </a:p>
        </p:txBody>
      </p:sp>
      <p:sp>
        <p:nvSpPr>
          <p:cNvPr id="53" name="Text 47"/>
          <p:cNvSpPr/>
          <p:nvPr/>
        </p:nvSpPr>
        <p:spPr>
          <a:xfrm>
            <a:off x="7427214" y="4599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PERMISOS REALES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8113014" y="4892040"/>
            <a:ext cx="5486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49"/>
          <p:cNvSpPr/>
          <p:nvPr/>
        </p:nvSpPr>
        <p:spPr>
          <a:xfrm>
            <a:off x="7472934" y="5001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Proxmox  ·  SSH (rot. 30d)  ·  API IONOS  ·  AWS Secrets Manager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9475470" y="3749040"/>
            <a:ext cx="70866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Shape 51"/>
          <p:cNvSpPr/>
          <p:nvPr/>
        </p:nvSpPr>
        <p:spPr>
          <a:xfrm rot="5400000">
            <a:off x="9528048" y="3685032"/>
            <a:ext cx="146304" cy="146304"/>
          </a:xfrm>
          <a:prstGeom prst="lin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Shape 52"/>
          <p:cNvSpPr/>
          <p:nvPr/>
        </p:nvSpPr>
        <p:spPr>
          <a:xfrm>
            <a:off x="9628632" y="2606040"/>
            <a:ext cx="21031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9" name="Shape 53"/>
          <p:cNvSpPr/>
          <p:nvPr/>
        </p:nvSpPr>
        <p:spPr>
          <a:xfrm>
            <a:off x="9628632" y="2606040"/>
            <a:ext cx="210312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4"/>
          <p:cNvSpPr/>
          <p:nvPr/>
        </p:nvSpPr>
        <p:spPr>
          <a:xfrm>
            <a:off x="9628632" y="2679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61" name="Shape 55"/>
          <p:cNvSpPr/>
          <p:nvPr/>
        </p:nvSpPr>
        <p:spPr>
          <a:xfrm>
            <a:off x="10291572" y="3383280"/>
            <a:ext cx="777240" cy="777240"/>
          </a:xfrm>
          <a:prstGeom prst="ellipse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4452" y="3566160"/>
            <a:ext cx="411480" cy="41148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9720072" y="4297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</a:t>
            </a:r>
            <a:endParaRPr lang="en-US" sz="1400" dirty="0"/>
          </a:p>
        </p:txBody>
      </p:sp>
      <p:sp>
        <p:nvSpPr>
          <p:cNvPr id="64" name="Text 57"/>
          <p:cNvSpPr/>
          <p:nvPr/>
        </p:nvSpPr>
        <p:spPr>
          <a:xfrm>
            <a:off x="9720072" y="45994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ROLLBACK AUTOMÁTICO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10405872" y="4892040"/>
            <a:ext cx="548640" cy="1828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6" name="Text 59"/>
          <p:cNvSpPr/>
          <p:nvPr/>
        </p:nvSpPr>
        <p:spPr>
          <a:xfrm>
            <a:off x="9765792" y="5001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 PostgreSQL  ·  Dry-run  ·  Verificación &lt;60s  ·  Rollback si difiere</a:t>
            </a:r>
            <a:endParaRPr lang="en-US" sz="850" dirty="0"/>
          </a:p>
        </p:txBody>
      </p:sp>
      <p:sp>
        <p:nvSpPr>
          <p:cNvPr id="67" name="Shape 6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8" name="Shape 61"/>
          <p:cNvSpPr/>
          <p:nvPr/>
        </p:nvSpPr>
        <p:spPr>
          <a:xfrm>
            <a:off x="457200" y="5943600"/>
            <a:ext cx="54864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9" name="Text 62"/>
          <p:cNvSpPr/>
          <p:nvPr/>
        </p:nvSpPr>
        <p:spPr>
          <a:xfrm>
            <a:off x="777240" y="59436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</a:rPr>
              <a:t>TIEMPO TOTAL DEL CICLO  ·  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&lt;60 segundos desde trigger hasta verificación final  —  Auditoría completa con rollback automático en caso de divergencia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7.6  ·  LÍMITES DE AUTONOMÍA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 — siete barandillas estrictas no negociables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12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es autónomo dentro de estos límites. El Gateway valida cada acción contra las políticas y rechaza con HTTP 429 cualquier intento de exceder un límite, escalando al humano.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46304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240280"/>
            <a:ext cx="411480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92024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5696712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35040" y="2240280"/>
            <a:ext cx="5696712" cy="5029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LÍMITE Y COMPORTAMIENTO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40080" y="2825496"/>
            <a:ext cx="1097280" cy="292608"/>
          </a:xfrm>
          <a:prstGeom prst="rect">
            <a:avLst/>
          </a:prstGeom>
          <a:solidFill>
            <a:srgbClr val="CFFAFE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28254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AUTÓNOMO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27432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92024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VPS pausados / reactivados / configurados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743200"/>
            <a:ext cx="56967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035040" y="27432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límite — acciones reversibles aplicadas al detectar degradación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46304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40080" y="3282696"/>
            <a:ext cx="1097280" cy="292608"/>
          </a:xfrm>
          <a:prstGeom prst="rect">
            <a:avLst/>
          </a:prstGeom>
          <a:solidFill>
            <a:srgbClr val="CFFAFE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40080" y="3282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AUTÓNOMO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3200400"/>
            <a:ext cx="41148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92024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VPS creados (nuevos)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200400"/>
            <a:ext cx="5696712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035040" y="32004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Hasta 10/día y 300 totales — más requiere humano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40080" y="3739896"/>
            <a:ext cx="109728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40080" y="3739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36576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920240" y="36576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VPS retirados / eliminados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3657600"/>
            <a:ext cx="56967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035040" y="36576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REQUIERE HUMANO siempre — acción irreversible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146304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40080" y="4197096"/>
            <a:ext cx="1097280" cy="292608"/>
          </a:xfrm>
          <a:prstGeom prst="rect">
            <a:avLst/>
          </a:prstGeom>
          <a:solidFill>
            <a:srgbClr val="CFFAFE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40080" y="41970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AUTÓNOMO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20240" y="4114800"/>
            <a:ext cx="41148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92024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Modificaciones DNS rutinarias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4114800"/>
            <a:ext cx="5696712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035040" y="41148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Registros A · rotación DKIM cada 90 d · actualización SPF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5720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640080" y="4654296"/>
            <a:ext cx="109728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640080" y="4654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920240" y="45720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192024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Modificaciones DNS críticas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35040" y="4572000"/>
            <a:ext cx="56967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6035040" y="45720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MX principal · DMARC reject · eliminación de dominio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7200" y="5029200"/>
            <a:ext cx="146304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640080" y="5111496"/>
            <a:ext cx="1097280" cy="292608"/>
          </a:xfrm>
          <a:prstGeom prst="rect">
            <a:avLst/>
          </a:prstGeom>
          <a:solidFill>
            <a:srgbClr val="CFFAFE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640080" y="51114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AUTÓNOMO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920240" y="5029200"/>
            <a:ext cx="411480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192024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 SSH a VPS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035040" y="5029200"/>
            <a:ext cx="5696712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6035040" y="50292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mantiene claves SSH rotadas cada 30 días automáticamente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200" y="54864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Shape 57"/>
          <p:cNvSpPr/>
          <p:nvPr/>
        </p:nvSpPr>
        <p:spPr>
          <a:xfrm>
            <a:off x="640080" y="5568696"/>
            <a:ext cx="109728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640080" y="55686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920240" y="54864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1920240" y="5486400"/>
            <a:ext cx="4114800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Acciones que afectan más del 20% de la flota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35040" y="5486400"/>
            <a:ext cx="56967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6035040" y="5486400"/>
            <a:ext cx="5696712" cy="457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REQUIERE HUMANO — posible problema sistémico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7200" y="6126480"/>
            <a:ext cx="11274552" cy="5943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6" name="Text 64"/>
          <p:cNvSpPr/>
          <p:nvPr/>
        </p:nvSpPr>
        <p:spPr>
          <a:xfrm>
            <a:off x="777240" y="6126480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BEAFE"/>
                </a:solidFill>
              </a:rPr>
              <a:t>ARQUITECTURA DE SEGURIDAD  ·  </a:t>
            </a:r>
            <a:r>
              <a:rPr lang="en-US" sz="11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Credenciales rotativas  ·  Log inmutable  ·  Dry-run  ·  Verificación post-ejecución &lt;60s  ·  Rollback automático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6  ·  INFRAESTRUCTURA FÍSICA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 IBM x3630 M4 — plan de upgrade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13 / 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45262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4864" cy="4526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1005840" cy="1005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ACTIVO YA ADQUIRIDO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474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IBM System x3630 M4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2960" y="4023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Servidor enterprise rack 2U  ·  14 años de operación validados  ·  Será enviado a Popayán para configuración presencial.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5029200"/>
            <a:ext cx="548640" cy="2286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822960" y="5212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ESPECIFICACIONES ACTUALES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CPU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5176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2.20 GHz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51760" y="5760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GB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22960" y="6035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Almacenamiento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51760" y="6035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TB HDD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1783080"/>
            <a:ext cx="5971032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5760720" y="1783080"/>
            <a:ext cx="5971032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6035040" y="19659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UPGRADE REQUERIDO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35040" y="2240280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Inversión inicial única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035040" y="2788920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 para soportar 300 VPS virtualizados con su carga objetivo. Suficiente para los primeros 6-12 meses de operación.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035040" y="3291840"/>
            <a:ext cx="542239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410712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37960" y="33284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Memoria RAM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537960" y="35387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GB → 128 GB DDR3 ECC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9144000" y="3291840"/>
            <a:ext cx="2313432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800 — 1.500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035040" y="3822192"/>
            <a:ext cx="542239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941064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537960" y="38587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Almacenamiento principal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537960" y="40690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TB HDD → 2 TB NVMe SSD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9144000" y="3822192"/>
            <a:ext cx="2313432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400 — 700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035040" y="4352544"/>
            <a:ext cx="542239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471416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537960" y="4389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HDD adicional backup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537960" y="4599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+ 4 TB HDD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9144000" y="4352544"/>
            <a:ext cx="2313432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150 — 300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6035040" y="4882896"/>
            <a:ext cx="5422392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5001768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537960" y="49194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UPS de respaldo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537960" y="51297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1500 VA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9144000" y="4882896"/>
            <a:ext cx="2313432" cy="49377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200 — 500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6035040" y="5504688"/>
            <a:ext cx="5422392" cy="53035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2"/>
          <p:cNvSpPr/>
          <p:nvPr/>
        </p:nvSpPr>
        <p:spPr>
          <a:xfrm>
            <a:off x="6217920" y="5504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UPGRADE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8229600" y="5504688"/>
            <a:ext cx="3227832" cy="5303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1.550 — 3.000  </a:t>
            </a:r>
            <a:r>
              <a:rPr lang="en-US" sz="1100" i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vez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8  ·  MVP FUNCIONAL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de ejecución — primeros 30 días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14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Cuatro semanas, cuatro objetivos cumplibles. Cada hito tiene fecha y entregable verificable.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10515600" cy="548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DÍA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96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abr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8136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DÍA 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881360" y="2496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may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2267712"/>
            <a:ext cx="182880" cy="18288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161227" y="2386584"/>
            <a:ext cx="21946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833360" y="2267712"/>
            <a:ext cx="182880" cy="18288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913827" y="2386584"/>
            <a:ext cx="21946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534400" y="2267712"/>
            <a:ext cx="182880" cy="18288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8614867" y="2386584"/>
            <a:ext cx="21946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14400" y="2697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HITOS CLAVE  ·  Día 15: primer entregable  ·  Día 20: demo end-to-end  ·  Día 22: segundo entregable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2308860"/>
            <a:ext cx="2453640" cy="1005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14400" y="3200400"/>
            <a:ext cx="252603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1097280" y="3383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0972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83080" y="3364992"/>
            <a:ext cx="1565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3657600"/>
            <a:ext cx="156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abr — 4 may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97280" y="4041648"/>
            <a:ext cx="216027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1097280" y="416052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CIMIENTOS TÉCNICOS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" y="4480560"/>
            <a:ext cx="216027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Recepción servidor en Popayán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Upgrade RAM 128GB + NVMe 2TB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Ubuntu 24.04 + Proxmox VE 8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Cotizaciones IP leasing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68040" y="2308860"/>
            <a:ext cx="2453640" cy="1005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3577590" y="3200400"/>
            <a:ext cx="252603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3760470" y="3383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76047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446270" y="3364992"/>
            <a:ext cx="1565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46270" y="3657600"/>
            <a:ext cx="156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— 11 may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60470" y="4041648"/>
            <a:ext cx="216027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760470" y="416052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CONTRATOS Y DESARROLLO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60470" y="4480560"/>
            <a:ext cx="216027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Contrato proveedor IP leasing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Internet empresarial Popayán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Inicio formal trámite ARIN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Worker procesando jobs (BullMQ)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21680" y="2308860"/>
            <a:ext cx="2453640" cy="10058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6240780" y="3200400"/>
            <a:ext cx="252603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6423660" y="3383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4236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09460" y="3364992"/>
            <a:ext cx="1565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09460" y="3657600"/>
            <a:ext cx="156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— 18 may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23660" y="4041648"/>
            <a:ext cx="216027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423660" y="416052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PRIMER ENVÍO REAL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23660" y="4480560"/>
            <a:ext cx="216027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Recepción /24 USA — 256 IPs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Túnel BGP/GRE configurado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5-10 VPS virtualizados activos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 fleet-ops + ip-ops básicas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75320" y="2308860"/>
            <a:ext cx="3154680" cy="10058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8903970" y="3200400"/>
            <a:ext cx="252603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9086850" y="3383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908685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772650" y="3364992"/>
            <a:ext cx="1565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Semana 4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772650" y="3657600"/>
            <a:ext cx="156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— 27 may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86850" y="4041648"/>
            <a:ext cx="216027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9086850" y="4160520"/>
            <a:ext cx="216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MVP FUNCIONAL + DEMO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086850" y="4480560"/>
            <a:ext cx="216027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30-50 VPS virtualizados activos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6 skills operativas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como respaldo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end-to-end al sponsor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RUTA MAYO → SEPTIEMBRE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meses al volumen objetivo de 1M correos / día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15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Crecimiento basado en evidencia. Cada mes warming gradual antes de manejar volumen. Webdock cubre la diferencia mientras los VPS USA suben.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CRECIMIENTO DEL VOLUMEN DIARIO  ·  miles de correos / día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2514600"/>
          <a:ext cx="10972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120640"/>
            <a:ext cx="218175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57200" y="5120640"/>
            <a:ext cx="2181758" cy="7315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48640" y="5248656"/>
            <a:ext cx="1998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5504688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MVP + warming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568756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100%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5852160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cambio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30398" y="5120640"/>
            <a:ext cx="218175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2730398" y="5120640"/>
            <a:ext cx="2181758" cy="73152"/>
          </a:xfrm>
          <a:prstGeom prst="rect">
            <a:avLst/>
          </a:prstGeom>
          <a:solidFill>
            <a:srgbClr val="67E8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2821838" y="5248656"/>
            <a:ext cx="1998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JUNIO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821838" y="5504688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VPS USA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821838" y="568756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70%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821838" y="5852160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100-200K/día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03597" y="5120640"/>
            <a:ext cx="218175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5003597" y="5120640"/>
            <a:ext cx="2181758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5095037" y="5248656"/>
            <a:ext cx="1998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JULIO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95037" y="5504688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VPS USA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95037" y="568756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50%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95037" y="5852160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400-600K/día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276795" y="5120640"/>
            <a:ext cx="218175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7276795" y="5120640"/>
            <a:ext cx="2181758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7368235" y="5248656"/>
            <a:ext cx="1998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AGOSTO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68235" y="5504688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VPS USA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368235" y="568756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20%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368235" y="5852160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700-800K/día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549994" y="5120640"/>
            <a:ext cx="218175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5"/>
          <p:cNvSpPr/>
          <p:nvPr/>
        </p:nvSpPr>
        <p:spPr>
          <a:xfrm>
            <a:off x="9549994" y="5120640"/>
            <a:ext cx="2181758" cy="7315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/>
          <p:nvPr/>
        </p:nvSpPr>
        <p:spPr>
          <a:xfrm>
            <a:off x="9641434" y="5248656"/>
            <a:ext cx="1998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SEPTIEMBRE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641434" y="5504688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 VPS USA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641434" y="568756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respaldo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9641434" y="5852160"/>
            <a:ext cx="1998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1M/día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9  ·  CONTINUIDAD OPERATIVA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de transición Webdock progresiva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16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continúa enviando mientras los VPS USA suben — migración mes a mes con validación.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DISTRIBUCIÓN DEL TRÁFICO MES A 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2212848"/>
            <a:ext cx="274320" cy="14630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595360" y="2194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784080" y="2212848"/>
            <a:ext cx="274320" cy="1463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149840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VPS USA propios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0080" y="2514600"/>
          <a:ext cx="109728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5029200"/>
            <a:ext cx="5577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457200" y="5029200"/>
            <a:ext cx="557784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40080" y="5138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EXPANSIÓN A 13 VPS WEBDOCK COMO PUENTE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VPS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0080" y="5870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Cuenta 1 existente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37744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VPS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2377440" y="5870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Cuenta 2 nueva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VPS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114800" y="5870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combinado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17920" y="5029200"/>
            <a:ext cx="551383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6217920" y="5029200"/>
            <a:ext cx="5513832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6400800" y="513892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CIERRE DE SEPTIEMBRE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5413248"/>
            <a:ext cx="5148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pasa a respaldo de emergencia. La operación funciona 100% sobre infraestructura propia.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11  ·  GESTIÓN DE RIESGOS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probabilidad × impacto + plan de mitigación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17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Ocho riesgos posicionados en la matriz. Cuanto más arriba y a la derecha, mayor severidad. Todos tienen mitigación concreta.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↑ IMPACTO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60350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PROBABILIDAD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194560"/>
            <a:ext cx="36576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3398520"/>
            <a:ext cx="36576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792" y="4602480"/>
            <a:ext cx="36576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BAJO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60120" y="5806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BAJA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5806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60520" y="5806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2194560"/>
            <a:ext cx="1600200" cy="1203960"/>
          </a:xfrm>
          <a:prstGeom prst="rect">
            <a:avLst/>
          </a:prstGeom>
          <a:solidFill>
            <a:srgbClr val="CFFAFE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560320" y="2194560"/>
            <a:ext cx="1600200" cy="120396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160520" y="2194560"/>
            <a:ext cx="1600200" cy="120396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60120" y="3398520"/>
            <a:ext cx="1600200" cy="1203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2560320" y="3398520"/>
            <a:ext cx="1600200" cy="1203960"/>
          </a:xfrm>
          <a:prstGeom prst="rect">
            <a:avLst/>
          </a:prstGeom>
          <a:solidFill>
            <a:srgbClr val="CFFAFE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160520" y="3398520"/>
            <a:ext cx="1600200" cy="120396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960120" y="4602480"/>
            <a:ext cx="1600200" cy="1203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2560320" y="4602480"/>
            <a:ext cx="1600200" cy="1203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160520" y="4602480"/>
            <a:ext cx="1600200" cy="1203960"/>
          </a:xfrm>
          <a:prstGeom prst="rect">
            <a:avLst/>
          </a:prstGeom>
          <a:solidFill>
            <a:srgbClr val="CFFAFE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796028" y="263194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796028" y="2631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95828" y="263194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195828" y="2631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95628" y="263194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1595628" y="2631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61388" y="263194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961388" y="2631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95828" y="503986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195828" y="5039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595628" y="383590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1595628" y="38359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61388" y="383590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961388" y="38359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61588" y="5039868"/>
            <a:ext cx="329184" cy="32918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3561588" y="5039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89320" y="2148840"/>
            <a:ext cx="5742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INVENTARIO Y MITIGACIÓN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2468880"/>
            <a:ext cx="57424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6080760" y="25740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6080760" y="2574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46520" y="2468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empeora restricciones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418320" y="254203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9509760" y="24688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C con RackNerd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971800"/>
            <a:ext cx="574243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6080760" y="307695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6080760" y="30769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Falla de hardware del IBM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418320" y="304495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9509760" y="29718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RAID 1 + backup S3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989320" y="3474720"/>
            <a:ext cx="57424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6080760" y="357987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6080760" y="3579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Corte de luz prolongado en Popayán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418320" y="354787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9509760" y="347472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UPS + Webdock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989320" y="3977640"/>
            <a:ext cx="574243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Shape 61"/>
          <p:cNvSpPr/>
          <p:nvPr/>
        </p:nvSpPr>
        <p:spPr>
          <a:xfrm>
            <a:off x="6080760" y="408279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62"/>
          <p:cNvSpPr/>
          <p:nvPr/>
        </p:nvSpPr>
        <p:spPr>
          <a:xfrm>
            <a:off x="6080760" y="40827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Túnel BGP del proveedor IP inestable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418320" y="405079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9509760" y="39776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SLA contractual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89320" y="4480560"/>
            <a:ext cx="57424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Shape 67"/>
          <p:cNvSpPr/>
          <p:nvPr/>
        </p:nvSpPr>
        <p:spPr>
          <a:xfrm>
            <a:off x="6080760" y="458571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0" name="Text 68"/>
          <p:cNvSpPr/>
          <p:nvPr/>
        </p:nvSpPr>
        <p:spPr>
          <a:xfrm>
            <a:off x="6080760" y="45857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46520" y="4480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acción autónoma incorrecta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418320" y="455371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9509760" y="44805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Verif. &lt;60s + rollback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989320" y="4983480"/>
            <a:ext cx="574243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5" name="Shape 73"/>
          <p:cNvSpPr/>
          <p:nvPr/>
        </p:nvSpPr>
        <p:spPr>
          <a:xfrm>
            <a:off x="6080760" y="508863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6" name="Text 74"/>
          <p:cNvSpPr/>
          <p:nvPr/>
        </p:nvSpPr>
        <p:spPr>
          <a:xfrm>
            <a:off x="6080760" y="50886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44652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APIs Claude/OpenAI caídas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418320" y="505663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9" name="Text 77"/>
          <p:cNvSpPr/>
          <p:nvPr/>
        </p:nvSpPr>
        <p:spPr>
          <a:xfrm>
            <a:off x="9509760" y="498348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 router al respaldo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989320" y="5486400"/>
            <a:ext cx="57424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1" name="Shape 79"/>
          <p:cNvSpPr/>
          <p:nvPr/>
        </p:nvSpPr>
        <p:spPr>
          <a:xfrm>
            <a:off x="6080760" y="559155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2" name="Text 80"/>
          <p:cNvSpPr/>
          <p:nvPr/>
        </p:nvSpPr>
        <p:spPr>
          <a:xfrm>
            <a:off x="6080760" y="55915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46520" y="5486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ARIN rechaza /23 a Delivrix LLC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418320" y="555955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9509760" y="5486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/24 leasing es suficiente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989320" y="5989320"/>
            <a:ext cx="5742432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7" name="Shape 85"/>
          <p:cNvSpPr/>
          <p:nvPr/>
        </p:nvSpPr>
        <p:spPr>
          <a:xfrm>
            <a:off x="6080760" y="609447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8" name="Text 86"/>
          <p:cNvSpPr/>
          <p:nvPr/>
        </p:nvSpPr>
        <p:spPr>
          <a:xfrm>
            <a:off x="6080760" y="6094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446520" y="5989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Calendario septiembre se desplaza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9418320" y="6062472"/>
            <a:ext cx="7315" cy="35661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1" name="Text 89"/>
          <p:cNvSpPr/>
          <p:nvPr/>
        </p:nvSpPr>
        <p:spPr>
          <a:xfrm>
            <a:off x="9509760" y="598932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con métricas reales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12  ·  ANÁLISIS FINANCIERO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escenarios de costo y retorno a 24 meses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18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escenario realista (USD 806 / mes) es el monto base para aprobación. Cifras netas, no incluyen suscripciones personales.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029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MENSUAL POR ESCENARIO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31520" y="2560320"/>
          <a:ext cx="44805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5669280" y="2103120"/>
            <a:ext cx="606247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5852160" y="2212848"/>
            <a:ext cx="5696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DESGLOSE DE COSTOS  ·  USD / MES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2606040"/>
            <a:ext cx="2011680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852160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RUBRO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863840" y="2606040"/>
            <a:ext cx="1005840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7863840" y="2606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15400" y="2606040"/>
            <a:ext cx="1005840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8915400" y="2606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966960" y="2606040"/>
            <a:ext cx="1005840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9966960" y="2606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52160" y="2898648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585216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Internet empresarial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863840" y="289864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7863840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15400" y="289864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8915400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966960" y="289864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9966960" y="2898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300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852160" y="3172968"/>
            <a:ext cx="20116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5852160" y="317296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IP leasing /24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863840" y="317296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786384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128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915400" y="317296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3"/>
          <p:cNvSpPr/>
          <p:nvPr/>
        </p:nvSpPr>
        <p:spPr>
          <a:xfrm>
            <a:off x="891540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966960" y="317296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996696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852160" y="3447288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585216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863840" y="344728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39"/>
          <p:cNvSpPr/>
          <p:nvPr/>
        </p:nvSpPr>
        <p:spPr>
          <a:xfrm>
            <a:off x="786384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915400" y="344728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1"/>
          <p:cNvSpPr/>
          <p:nvPr/>
        </p:nvSpPr>
        <p:spPr>
          <a:xfrm>
            <a:off x="891540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966960" y="344728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3"/>
          <p:cNvSpPr/>
          <p:nvPr/>
        </p:nvSpPr>
        <p:spPr>
          <a:xfrm>
            <a:off x="9966960" y="3447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150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52160" y="3721608"/>
            <a:ext cx="20116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5"/>
          <p:cNvSpPr/>
          <p:nvPr/>
        </p:nvSpPr>
        <p:spPr>
          <a:xfrm>
            <a:off x="5852160" y="372160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7863840" y="372160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7"/>
          <p:cNvSpPr/>
          <p:nvPr/>
        </p:nvSpPr>
        <p:spPr>
          <a:xfrm>
            <a:off x="7863840" y="3721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915400" y="372160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49"/>
          <p:cNvSpPr/>
          <p:nvPr/>
        </p:nvSpPr>
        <p:spPr>
          <a:xfrm>
            <a:off x="8915400" y="3721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9966960" y="372160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1"/>
          <p:cNvSpPr/>
          <p:nvPr/>
        </p:nvSpPr>
        <p:spPr>
          <a:xfrm>
            <a:off x="9966960" y="3721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852160" y="3995928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3"/>
          <p:cNvSpPr/>
          <p:nvPr/>
        </p:nvSpPr>
        <p:spPr>
          <a:xfrm>
            <a:off x="5852160" y="399592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API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863840" y="399592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5"/>
          <p:cNvSpPr/>
          <p:nvPr/>
        </p:nvSpPr>
        <p:spPr>
          <a:xfrm>
            <a:off x="7863840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130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8915400" y="399592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7"/>
          <p:cNvSpPr/>
          <p:nvPr/>
        </p:nvSpPr>
        <p:spPr>
          <a:xfrm>
            <a:off x="8915400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165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9966960" y="399592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59"/>
          <p:cNvSpPr/>
          <p:nvPr/>
        </p:nvSpPr>
        <p:spPr>
          <a:xfrm>
            <a:off x="9966960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5852160" y="4270248"/>
            <a:ext cx="201168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4" name="Text 61"/>
          <p:cNvSpPr/>
          <p:nvPr/>
        </p:nvSpPr>
        <p:spPr>
          <a:xfrm>
            <a:off x="5852160" y="427024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 respaldo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863840" y="427024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3"/>
          <p:cNvSpPr/>
          <p:nvPr/>
        </p:nvSpPr>
        <p:spPr>
          <a:xfrm>
            <a:off x="786384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8915400" y="427024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5"/>
          <p:cNvSpPr/>
          <p:nvPr/>
        </p:nvSpPr>
        <p:spPr>
          <a:xfrm>
            <a:off x="891540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966960" y="4270248"/>
            <a:ext cx="100584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0" name="Text 67"/>
          <p:cNvSpPr/>
          <p:nvPr/>
        </p:nvSpPr>
        <p:spPr>
          <a:xfrm>
            <a:off x="996696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5852160" y="4544568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2" name="Text 69"/>
          <p:cNvSpPr/>
          <p:nvPr/>
        </p:nvSpPr>
        <p:spPr>
          <a:xfrm>
            <a:off x="5852160" y="4544568"/>
            <a:ext cx="201168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C contingente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7863840" y="454456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4" name="Text 71"/>
          <p:cNvSpPr/>
          <p:nvPr/>
        </p:nvSpPr>
        <p:spPr>
          <a:xfrm>
            <a:off x="7863840" y="4544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8915400" y="454456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6" name="Text 73"/>
          <p:cNvSpPr/>
          <p:nvPr/>
        </p:nvSpPr>
        <p:spPr>
          <a:xfrm>
            <a:off x="8915400" y="4544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9966960" y="4544568"/>
            <a:ext cx="1005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8" name="Text 75"/>
          <p:cNvSpPr/>
          <p:nvPr/>
        </p:nvSpPr>
        <p:spPr>
          <a:xfrm>
            <a:off x="9966960" y="4544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5852160" y="4818888"/>
            <a:ext cx="502920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0" name="Text 77"/>
          <p:cNvSpPr/>
          <p:nvPr/>
        </p:nvSpPr>
        <p:spPr>
          <a:xfrm>
            <a:off x="585216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17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</a:t>
            </a:r>
            <a:endParaRPr lang="en-US" sz="1000" dirty="0"/>
          </a:p>
        </p:txBody>
      </p:sp>
      <p:sp>
        <p:nvSpPr>
          <p:cNvPr id="81" name="Text 78"/>
          <p:cNvSpPr/>
          <p:nvPr/>
        </p:nvSpPr>
        <p:spPr>
          <a:xfrm>
            <a:off x="7863840" y="4818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471</a:t>
            </a:r>
            <a:endParaRPr lang="en-US" sz="1200" dirty="0"/>
          </a:p>
        </p:txBody>
      </p:sp>
      <p:sp>
        <p:nvSpPr>
          <p:cNvPr id="82" name="Text 79"/>
          <p:cNvSpPr/>
          <p:nvPr/>
        </p:nvSpPr>
        <p:spPr>
          <a:xfrm>
            <a:off x="8915400" y="4818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806</a:t>
            </a:r>
            <a:endParaRPr lang="en-US" sz="1200" dirty="0"/>
          </a:p>
        </p:txBody>
      </p:sp>
      <p:sp>
        <p:nvSpPr>
          <p:cNvPr id="83" name="Text 80"/>
          <p:cNvSpPr/>
          <p:nvPr/>
        </p:nvSpPr>
        <p:spPr>
          <a:xfrm>
            <a:off x="9966960" y="4818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1.142</a:t>
            </a:r>
            <a:endParaRPr lang="en-US" sz="1200" dirty="0"/>
          </a:p>
        </p:txBody>
      </p:sp>
      <p:sp>
        <p:nvSpPr>
          <p:cNvPr id="84" name="Shape 81"/>
          <p:cNvSpPr/>
          <p:nvPr/>
        </p:nvSpPr>
        <p:spPr>
          <a:xfrm>
            <a:off x="457200" y="5394960"/>
            <a:ext cx="11274552" cy="1188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5" name="Shape 82"/>
          <p:cNvSpPr/>
          <p:nvPr/>
        </p:nvSpPr>
        <p:spPr>
          <a:xfrm>
            <a:off x="457200" y="539496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6" name="Text 83"/>
          <p:cNvSpPr/>
          <p:nvPr/>
        </p:nvSpPr>
        <p:spPr>
          <a:xfrm>
            <a:off x="777240" y="54864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RETORNO DE INVERSIÓN  ·  ESCENARIO REALISTA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777240" y="5779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5.575</a:t>
            </a:r>
            <a:endParaRPr lang="en-US" sz="2200" dirty="0"/>
          </a:p>
        </p:txBody>
      </p:sp>
      <p:sp>
        <p:nvSpPr>
          <p:cNvPr id="88" name="Text 85"/>
          <p:cNvSpPr/>
          <p:nvPr/>
        </p:nvSpPr>
        <p:spPr>
          <a:xfrm>
            <a:off x="777240" y="6236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INVERSIÓN INICIAL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3429000" y="5806440"/>
            <a:ext cx="13716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0" name="Text 87"/>
          <p:cNvSpPr/>
          <p:nvPr/>
        </p:nvSpPr>
        <p:spPr>
          <a:xfrm>
            <a:off x="3520440" y="5779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 meses</a:t>
            </a:r>
            <a:endParaRPr lang="en-US" sz="2200" dirty="0"/>
          </a:p>
        </p:txBody>
      </p:sp>
      <p:sp>
        <p:nvSpPr>
          <p:cNvPr id="91" name="Text 88"/>
          <p:cNvSpPr/>
          <p:nvPr/>
        </p:nvSpPr>
        <p:spPr>
          <a:xfrm>
            <a:off x="3520440" y="6236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PUNTO DE EQUILIBRIO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6172200" y="5806440"/>
            <a:ext cx="13716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3" name="Text 90"/>
          <p:cNvSpPr/>
          <p:nvPr/>
        </p:nvSpPr>
        <p:spPr>
          <a:xfrm>
            <a:off x="6263640" y="5779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50.753</a:t>
            </a:r>
            <a:endParaRPr lang="en-US" sz="2200" dirty="0"/>
          </a:p>
        </p:txBody>
      </p:sp>
      <p:sp>
        <p:nvSpPr>
          <p:cNvPr id="94" name="Text 91"/>
          <p:cNvSpPr/>
          <p:nvPr/>
        </p:nvSpPr>
        <p:spPr>
          <a:xfrm>
            <a:off x="6263640" y="6236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AHORRO AÑO 1 vs SENDGRID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8915400" y="5806440"/>
            <a:ext cx="13716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6" name="Text 93"/>
          <p:cNvSpPr/>
          <p:nvPr/>
        </p:nvSpPr>
        <p:spPr>
          <a:xfrm>
            <a:off x="9006840" y="5779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1.820%</a:t>
            </a:r>
            <a:endParaRPr lang="en-US" sz="2200" dirty="0"/>
          </a:p>
        </p:txBody>
      </p:sp>
      <p:sp>
        <p:nvSpPr>
          <p:cNvPr id="97" name="Text 94"/>
          <p:cNvSpPr/>
          <p:nvPr/>
        </p:nvSpPr>
        <p:spPr>
          <a:xfrm>
            <a:off x="9006840" y="6236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 24 MESES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12.5  ·  COMPARATIVA ANUAL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Plataforma propia vs SendGrid — año 1 completo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19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Comparación visual del primer año vs el costo de SendGrid para el mismo volumen objetivo. La diferencia es de 4.3×.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127455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INVERSIÓN TOTAL AÑO 1  ·  USD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731520" y="2560320"/>
          <a:ext cx="10725912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4572000"/>
            <a:ext cx="5029200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57200" y="4572000"/>
            <a:ext cx="50292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40080" y="47091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 PROPIA  ·  AÑO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4983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15.247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40080" y="5532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Inversión inicial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00400" y="5532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5.575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5824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Operativo año 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0" y="5824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9.672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080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2D3E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Total control de infraestructura, IPs y reputación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23560" y="4572000"/>
            <a:ext cx="1280160" cy="17830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5623560" y="4800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AHORRO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23560" y="5074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4.3×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5623560" y="5669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MÁS BARATO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23560" y="5897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50.753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23560" y="6144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CFE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ahorro neto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040880" y="4572000"/>
            <a:ext cx="4690872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7040880" y="4572000"/>
            <a:ext cx="4690872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7223760" y="4709160"/>
            <a:ext cx="4325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SENDGRID GESTIONADO  ·  AÑO 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223760" y="4983480"/>
            <a:ext cx="4325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66.000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223760" y="5532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Costo promedio mensual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692640" y="5532120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5.500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223760" y="5824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Rango mensual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692640" y="5824728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4.000 — 7.000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223760" y="6080760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  Dependencia total  ·  IPs del proveedor  ·  tarifas variables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13  ·  APROBACIONES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decisiones que requieren aprobación del sponsor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20 / 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Aprobación formal requerida para arrancar la ejecución. Cada decisión es independiente y reversible — el sponsor puede aprobar 5 de 6 si así lo decide.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605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6576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0080" y="23591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233172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 empresarial Popayán + IP fija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97480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100 — 300 / 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97180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Claro Negocios · Tigo Business · Movistar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25880" y="32918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536192" y="3273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32918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090672" y="3273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Rechazada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53912" y="2194560"/>
            <a:ext cx="5605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153912" y="2194560"/>
            <a:ext cx="36576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336792" y="23591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22592" y="233172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IP leasing /24 USA (256 IPs)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22592" y="2697480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128 — 384 / 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22592" y="297180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IPv4.Global · IPXO · Heficed · 12 meses min.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22592" y="32918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232904" y="3273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77072" y="329184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787384" y="3273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Rechazada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48456"/>
            <a:ext cx="5605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57200" y="3648456"/>
            <a:ext cx="36576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40080" y="38130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25880" y="3785616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Trámite ARIN /23 USA propio + ASN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4151376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2.000 — 4.000 setup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25880" y="442569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512 IPs permanentes a nombre Delivrix LLC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25880" y="47457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536192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Aprobada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0360" y="47457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090672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Rechazada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53912" y="3648456"/>
            <a:ext cx="5605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6153912" y="3648456"/>
            <a:ext cx="36576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6336792" y="38130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022592" y="3785616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Upgrade del servidor IBM (RAM + SSD)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22592" y="4151376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1.600 — 3.150 una vez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22592" y="4425696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 para soportar 300 VPS virtualizados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22592" y="47457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7232904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Aprobada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77072" y="4745736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8787384" y="4727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Rechazada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5102352"/>
            <a:ext cx="5605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>
            <a:off x="457200" y="5102352"/>
            <a:ext cx="36576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640080" y="52669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325880" y="523951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Calendario de cinco meses al volumen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25880" y="560527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 → Septiembre 2026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325880" y="587959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MVP en 30 días · 1M/día en mes 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325880" y="61996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1536192" y="6181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Aprobada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880360" y="61996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3090672" y="6181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Rechazada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53912" y="5102352"/>
            <a:ext cx="5605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1" name="Shape 59"/>
          <p:cNvSpPr/>
          <p:nvPr/>
        </p:nvSpPr>
        <p:spPr>
          <a:xfrm>
            <a:off x="6153912" y="5102352"/>
            <a:ext cx="36576" cy="1325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6336792" y="52669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7022592" y="5239512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C contingente con RackNerd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022592" y="560527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USD 162 / año si se activa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022592" y="587959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si triggers del cap. 9 se cumplen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022592" y="61996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7232904" y="6181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Aprobada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577072" y="61996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8787384" y="6181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Rechazada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38912"/>
            <a:ext cx="27432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41248" y="29260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CAPÍTULO 14  ·  CIERRE Y PRÓXIMOS PASOS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Sign-off del proyecto y arranque inmediato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74552" cy="731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Plataforma propia de mailing a escala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0952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v3.4 Business Plan  ·  21 / 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349240" cy="452628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4864" cy="452628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RESULTADOS ESPERADOS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 que defiende esta tesis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 propia operativa con 300 VPS virtualizados activos en servidor IBM upgradeado.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 de envío de un millón de correos diarios desde IPs USA hacia destinatarios USA.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Direcciones IP USA mediante /24 leased (256) y /23 ARIN propio (512) en proceso o asignado.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OpenClaw operando flota con autonomía real y barandillas estrictas no negociables.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Webdock como respaldo de emergencia validado, listo para activar si fuera necesario.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C contingente listo en RackNerd, no activado a menos que triggers se cumplan.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783080"/>
            <a:ext cx="5742432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1E40AF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5742432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5193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Acciones de las primeras 72 horas tras aprobación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26364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08152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 1 — Lunes 28 abril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331012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Coordinar logística envío del servidor a Popayán. Cotización RAM 128 GB DDR3 ECC y NVMe SSD 2 TB.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370332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2636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67588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 2 — Martes 29 abril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90448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Recepción del servidor en Popayán. Solicitudes de cotización a IPv4.Global, IPXO y Heficed.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63640" y="429768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26364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27024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 3 — Miércoles 30 abril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449884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Compra e instalación de RAM y SSD upgrade. Instalación de Ubuntu Server 24.04 con RAID 1.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489204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263640" y="4892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486460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 4 — Jueves 1 mayo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509320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Instalación de Proxmox VE 8. Inicialización del proyecto NestJS. Primer commit a GitHub.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548640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263640" y="5486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545896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Día 5 — Viernes 2 mayo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5687568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Cuadro comparativo de cotizaciones. Follow-up con sponsor. Continuación desarrollo Gateway.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1440" y="0"/>
            <a:ext cx="36576" cy="6858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920240" y="1325880"/>
            <a:ext cx="36576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DELIVRIX LLC  ·  V3.4 BUSINESS PLAN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-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 la decisión de pasar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-1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inquilinos a dueños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 la infraestructura que envía nuestros correos.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4526280"/>
            <a:ext cx="5486400" cy="228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263640" y="4526280"/>
            <a:ext cx="5486400" cy="228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" y="5321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CORREOS DIARIOS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4754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971800" y="5321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4754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$806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66360" y="5321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 MES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60920" y="4754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B6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1.820%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60920" y="5321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24M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GRACIAS  ·  PREGUNTAS Y DEBATE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Esteban Cañar T.  ·  Responsable técnico  ·  Popayán, Colombia  ·  27 abr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3517</Words>
  <Application>Microsoft Macintosh PowerPoint</Application>
  <PresentationFormat>Panorámica</PresentationFormat>
  <Paragraphs>638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Montserrat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Delivrix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Delivrix LLC · v3.4 Business Plan</dc:title>
  <dc:subject>PptxGenJS Presentation</dc:subject>
  <dc:creator>Juan Esteban Cañar T.</dc:creator>
  <cp:lastModifiedBy>JUAN ESTEBAN CAÑAR TRUQUE</cp:lastModifiedBy>
  <cp:revision>2</cp:revision>
  <dcterms:created xsi:type="dcterms:W3CDTF">2026-04-28T01:35:24Z</dcterms:created>
  <dcterms:modified xsi:type="dcterms:W3CDTF">2026-04-28T19:44:23Z</dcterms:modified>
</cp:coreProperties>
</file>